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0"/>
  </p:notesMasterIdLst>
  <p:sldIdLst>
    <p:sldId id="283" r:id="rId2"/>
    <p:sldId id="277" r:id="rId3"/>
    <p:sldId id="284" r:id="rId4"/>
    <p:sldId id="278" r:id="rId5"/>
    <p:sldId id="279" r:id="rId6"/>
    <p:sldId id="280" r:id="rId7"/>
    <p:sldId id="281" r:id="rId8"/>
    <p:sldId id="28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03B496-C71A-4C22-BBE3-7AA77B01E17A}" v="1" dt="2026-07-22T14:52:06.1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y Dickson" userId="7b4fa3c9-6881-4ebd-90a0-d5e5fb2c0f30" providerId="ADAL" clId="{3730B4F9-F09C-4F25-AD2F-B9EF888E455C}"/>
    <pc:docChg chg="custSel modSld">
      <pc:chgData name="Andy Dickson" userId="7b4fa3c9-6881-4ebd-90a0-d5e5fb2c0f30" providerId="ADAL" clId="{3730B4F9-F09C-4F25-AD2F-B9EF888E455C}" dt="2026-07-22T14:59:45.634" v="49" actId="478"/>
      <pc:docMkLst>
        <pc:docMk/>
      </pc:docMkLst>
      <pc:sldChg chg="modSp mod">
        <pc:chgData name="Andy Dickson" userId="7b4fa3c9-6881-4ebd-90a0-d5e5fb2c0f30" providerId="ADAL" clId="{3730B4F9-F09C-4F25-AD2F-B9EF888E455C}" dt="2026-07-22T14:58:04.124" v="48" actId="20577"/>
        <pc:sldMkLst>
          <pc:docMk/>
          <pc:sldMk cId="2770398114" sldId="281"/>
        </pc:sldMkLst>
        <pc:spChg chg="mod">
          <ac:chgData name="Andy Dickson" userId="7b4fa3c9-6881-4ebd-90a0-d5e5fb2c0f30" providerId="ADAL" clId="{3730B4F9-F09C-4F25-AD2F-B9EF888E455C}" dt="2026-07-22T14:58:04.124" v="48" actId="20577"/>
          <ac:spMkLst>
            <pc:docMk/>
            <pc:sldMk cId="2770398114" sldId="281"/>
            <ac:spMk id="12" creationId="{00000000-0000-0000-0000-000000000000}"/>
          </ac:spMkLst>
        </pc:spChg>
      </pc:sldChg>
      <pc:sldChg chg="delSp mod setBg">
        <pc:chgData name="Andy Dickson" userId="7b4fa3c9-6881-4ebd-90a0-d5e5fb2c0f30" providerId="ADAL" clId="{3730B4F9-F09C-4F25-AD2F-B9EF888E455C}" dt="2026-07-22T14:59:45.634" v="49" actId="478"/>
        <pc:sldMkLst>
          <pc:docMk/>
          <pc:sldMk cId="1147855232" sldId="282"/>
        </pc:sldMkLst>
        <pc:spChg chg="del">
          <ac:chgData name="Andy Dickson" userId="7b4fa3c9-6881-4ebd-90a0-d5e5fb2c0f30" providerId="ADAL" clId="{3730B4F9-F09C-4F25-AD2F-B9EF888E455C}" dt="2026-07-22T14:59:45.634" v="49" actId="478"/>
          <ac:spMkLst>
            <pc:docMk/>
            <pc:sldMk cId="1147855232" sldId="282"/>
            <ac:spMk id="3" creationId="{00000000-0000-0000-0000-000000000000}"/>
          </ac:spMkLst>
        </pc:spChg>
      </pc:sldChg>
      <pc:sldChg chg="addSp delSp modSp mod setBg">
        <pc:chgData name="Andy Dickson" userId="7b4fa3c9-6881-4ebd-90a0-d5e5fb2c0f30" providerId="ADAL" clId="{3730B4F9-F09C-4F25-AD2F-B9EF888E455C}" dt="2026-07-22T14:54:11.217" v="5" actId="1076"/>
        <pc:sldMkLst>
          <pc:docMk/>
          <pc:sldMk cId="2016063054" sldId="283"/>
        </pc:sldMkLst>
        <pc:spChg chg="del">
          <ac:chgData name="Andy Dickson" userId="7b4fa3c9-6881-4ebd-90a0-d5e5fb2c0f30" providerId="ADAL" clId="{3730B4F9-F09C-4F25-AD2F-B9EF888E455C}" dt="2026-07-22T14:54:00.409" v="4" actId="478"/>
          <ac:spMkLst>
            <pc:docMk/>
            <pc:sldMk cId="2016063054" sldId="283"/>
            <ac:spMk id="2" creationId="{00000000-0000-0000-0000-000000000000}"/>
          </ac:spMkLst>
        </pc:spChg>
        <pc:picChg chg="add mod">
          <ac:chgData name="Andy Dickson" userId="7b4fa3c9-6881-4ebd-90a0-d5e5fb2c0f30" providerId="ADAL" clId="{3730B4F9-F09C-4F25-AD2F-B9EF888E455C}" dt="2026-07-22T14:54:11.217" v="5" actId="1076"/>
          <ac:picMkLst>
            <pc:docMk/>
            <pc:sldMk cId="2016063054" sldId="283"/>
            <ac:picMk id="20" creationId="{7BF57C5F-3CF0-9318-8C78-3ACB2376B76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9490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20116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Tuning Dials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BD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we tailor carbon nanotube thin-film heaters to any application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4206240"/>
            <a:ext cx="749808" cy="749808"/>
          </a:xfrm>
          <a:prstGeom prst="ellipse">
            <a:avLst/>
          </a:prstGeom>
          <a:solidFill>
            <a:srgbClr val="EF46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910" y="4401190"/>
            <a:ext cx="359908" cy="3599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783080" y="4206240"/>
            <a:ext cx="749808" cy="749808"/>
          </a:xfrm>
          <a:prstGeom prst="ellipse">
            <a:avLst/>
          </a:prstGeom>
          <a:solidFill>
            <a:srgbClr val="EF46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8030" y="4401190"/>
            <a:ext cx="359908" cy="35990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743200" y="4206240"/>
            <a:ext cx="749808" cy="749808"/>
          </a:xfrm>
          <a:prstGeom prst="ellipse">
            <a:avLst/>
          </a:prstGeom>
          <a:solidFill>
            <a:srgbClr val="EF46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8150" y="4401190"/>
            <a:ext cx="359908" cy="35990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703320" y="4206240"/>
            <a:ext cx="749808" cy="749808"/>
          </a:xfrm>
          <a:prstGeom prst="ellipse">
            <a:avLst/>
          </a:prstGeom>
          <a:solidFill>
            <a:srgbClr val="EF46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8270" y="4401190"/>
            <a:ext cx="359908" cy="359908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663440" y="4206240"/>
            <a:ext cx="749808" cy="749808"/>
          </a:xfrm>
          <a:prstGeom prst="ellipse">
            <a:avLst/>
          </a:prstGeom>
          <a:solidFill>
            <a:srgbClr val="5070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8390" y="4401190"/>
            <a:ext cx="359908" cy="359908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5623560" y="4206240"/>
            <a:ext cx="749808" cy="749808"/>
          </a:xfrm>
          <a:prstGeom prst="ellipse">
            <a:avLst/>
          </a:prstGeom>
          <a:solidFill>
            <a:srgbClr val="5070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8510" y="4401190"/>
            <a:ext cx="359908" cy="35990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22960" y="5120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AA7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dials we turn  ·  Two inputs drive design </a:t>
            </a:r>
            <a:endParaRPr lang="en-US" sz="2000" dirty="0"/>
          </a:p>
        </p:txBody>
      </p:sp>
      <p:sp>
        <p:nvSpPr>
          <p:cNvPr id="18" name="Text 10"/>
          <p:cNvSpPr/>
          <p:nvPr/>
        </p:nvSpPr>
        <p:spPr>
          <a:xfrm>
            <a:off x="822960" y="6126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885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</a:t>
            </a:r>
            <a:endParaRPr lang="en-US" sz="2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BF57C5F-3CF0-9318-8C78-3ACB2376B7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055" y="560829"/>
            <a:ext cx="5483363" cy="128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063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32A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design vectors = greater flexibility and control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B235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DIALS WE CAN TURN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9244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3E58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 WE DESIGN TO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4F5F6"/>
          </a:solidFill>
          <a:ln/>
          <a:effectLst>
            <a:outerShdw blurRad="76200" dist="25400" dir="5400000" algn="bl" rotWithShape="0">
              <a:srgbClr val="C9CED3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057400"/>
            <a:ext cx="640080" cy="640080"/>
          </a:xfrm>
          <a:prstGeom prst="ellipse">
            <a:avLst/>
          </a:prstGeom>
          <a:solidFill>
            <a:srgbClr val="EF46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222382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08483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A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Geometry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28346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 bar layout, heater size and shape — the watt-density map.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251960" y="182880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4F5F6"/>
          </a:solidFill>
          <a:ln/>
          <a:effectLst>
            <a:outerShdw blurRad="76200" dist="25400" dir="5400000" algn="bl" rotWithShape="0">
              <a:srgbClr val="C9CED3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480560" y="2057400"/>
            <a:ext cx="640080" cy="640080"/>
          </a:xfrm>
          <a:prstGeom prst="ellipse">
            <a:avLst/>
          </a:prstGeom>
          <a:solidFill>
            <a:srgbClr val="EF46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6981" y="22238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208483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A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Chemistry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480560" y="28346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CNT loading, binders, adhesives, matrix — the film itself.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640080" y="411480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4F5F6"/>
          </a:solidFill>
          <a:ln/>
          <a:effectLst>
            <a:outerShdw blurRad="76200" dist="25400" dir="5400000" algn="bl" rotWithShape="0">
              <a:srgbClr val="C9CED3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68680" y="4343400"/>
            <a:ext cx="640080" cy="640080"/>
          </a:xfrm>
          <a:prstGeom prst="ellipse">
            <a:avLst/>
          </a:prstGeom>
          <a:solidFill>
            <a:srgbClr val="EF46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101" y="450982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437083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A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Electricity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68680" y="51206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 / DC, voltage, PWM — how power is delivered.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4251960" y="411480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4F5F6"/>
          </a:solidFill>
          <a:ln/>
          <a:effectLst>
            <a:outerShdw blurRad="76200" dist="25400" dir="5400000" algn="bl" rotWithShape="0">
              <a:srgbClr val="C9CED3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480560" y="4343400"/>
            <a:ext cx="640080" cy="640080"/>
          </a:xfrm>
          <a:prstGeom prst="ellipse">
            <a:avLst/>
          </a:prstGeom>
          <a:solidFill>
            <a:srgbClr val="EF46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6981" y="4509821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57800" y="437083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A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Sensing &amp; Control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4480560" y="51206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Feedback, self-regulation, protection — how temperature is held.</a:t>
            </a:r>
            <a:endParaRPr lang="en-US" sz="2000" dirty="0"/>
          </a:p>
        </p:txBody>
      </p:sp>
      <p:sp>
        <p:nvSpPr>
          <p:cNvPr id="25" name="Shape 19"/>
          <p:cNvSpPr/>
          <p:nvPr/>
        </p:nvSpPr>
        <p:spPr>
          <a:xfrm>
            <a:off x="8092440" y="182880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EDF1F3"/>
          </a:solidFill>
          <a:ln/>
          <a:effectLst>
            <a:outerShdw blurRad="76200" dist="25400" dir="5400000" algn="bl" rotWithShape="0">
              <a:srgbClr val="C9CED3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8321040" y="2057400"/>
            <a:ext cx="640080" cy="640080"/>
          </a:xfrm>
          <a:prstGeom prst="ellipse">
            <a:avLst/>
          </a:prstGeom>
          <a:solidFill>
            <a:srgbClr val="5070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7461" y="2223821"/>
            <a:ext cx="307238" cy="30723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098280" y="208483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A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Thermal Load</a:t>
            </a:r>
            <a:endParaRPr lang="en-US" sz="2000" dirty="0"/>
          </a:p>
        </p:txBody>
      </p:sp>
      <p:sp>
        <p:nvSpPr>
          <p:cNvPr id="29" name="Text 22"/>
          <p:cNvSpPr/>
          <p:nvPr/>
        </p:nvSpPr>
        <p:spPr>
          <a:xfrm>
            <a:off x="8321040" y="28346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we're heating: mass, materials, target temperature and ramp.</a:t>
            </a:r>
            <a:endParaRPr lang="en-US" sz="2000" dirty="0"/>
          </a:p>
        </p:txBody>
      </p:sp>
      <p:sp>
        <p:nvSpPr>
          <p:cNvPr id="30" name="Shape 23"/>
          <p:cNvSpPr/>
          <p:nvPr/>
        </p:nvSpPr>
        <p:spPr>
          <a:xfrm>
            <a:off x="8092440" y="411480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EDF1F3"/>
          </a:solidFill>
          <a:ln/>
          <a:effectLst>
            <a:outerShdw blurRad="76200" dist="25400" dir="5400000" algn="bl" rotWithShape="0">
              <a:srgbClr val="C9CED3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321040" y="4343400"/>
            <a:ext cx="640080" cy="640080"/>
          </a:xfrm>
          <a:prstGeom prst="ellipse">
            <a:avLst/>
          </a:prstGeom>
          <a:solidFill>
            <a:srgbClr val="5070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7461" y="4509821"/>
            <a:ext cx="307238" cy="30723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98280" y="437083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A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Environment</a:t>
            </a:r>
            <a:endParaRPr lang="en-US" sz="2000" dirty="0"/>
          </a:p>
        </p:txBody>
      </p:sp>
      <p:sp>
        <p:nvSpPr>
          <p:cNvPr id="34" name="Text 26"/>
          <p:cNvSpPr/>
          <p:nvPr/>
        </p:nvSpPr>
        <p:spPr>
          <a:xfrm>
            <a:off x="8321040" y="51206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it operates: ambient, airflow, insulation, moisture.</a:t>
            </a:r>
            <a:endParaRPr lang="en-US" sz="2000" dirty="0"/>
          </a:p>
        </p:txBody>
      </p:sp>
      <p:sp>
        <p:nvSpPr>
          <p:cNvPr id="35" name="Text 27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7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	The application sets the inputs. We turn the dials until the heater meets them.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24784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232A30"/>
                </a:solidFill>
                <a:latin typeface="Aptos Display"/>
              </a:rPr>
              <a:t>The alternatives give you one dial — maybe 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 i="1">
                <a:solidFill>
                  <a:srgbClr val="6B7680"/>
                </a:solidFill>
                <a:latin typeface="Aptos"/>
              </a:rPr>
              <a:t>Legacy heater technologies fix the material up front, leaving geometry as almost the only thing you can change.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664208"/>
            <a:ext cx="530352" cy="530352"/>
          </a:xfrm>
          <a:prstGeom prst="ellipse">
            <a:avLst/>
          </a:prstGeom>
          <a:solidFill>
            <a:srgbClr val="507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w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792224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25880" y="1645920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 b="1" i="0">
                <a:solidFill>
                  <a:srgbClr val="232A30"/>
                </a:solidFill>
                <a:latin typeface="Aptos"/>
              </a:rPr>
              <a:t>Nichrome wire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33832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1">
                <a:solidFill>
                  <a:srgbClr val="6B7680"/>
                </a:solidFill>
                <a:latin typeface="Aptos"/>
              </a:rPr>
              <a:t>A resistance wire routed across a surface.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44368"/>
            <a:ext cx="3383280" cy="1627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23517"/>
                </a:solidFill>
                <a:latin typeface="Aptos"/>
              </a:rPr>
              <a:t>•  </a:t>
            </a:r>
            <a:r>
              <a:rPr sz="1250" b="0" i="0">
                <a:solidFill>
                  <a:srgbClr val="232A30"/>
                </a:solidFill>
                <a:latin typeface="Aptos"/>
              </a:rPr>
              <a:t>Heat concentrates along the wire — hot lines, cold gaps between runs</a:t>
            </a:r>
          </a:p>
          <a:p>
            <a:pPr marL="182880" indent="-182880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23517"/>
                </a:solidFill>
                <a:latin typeface="Aptos"/>
              </a:rPr>
              <a:t>•  </a:t>
            </a:r>
            <a:r>
              <a:rPr sz="1250" b="0" i="0">
                <a:solidFill>
                  <a:srgbClr val="232A30"/>
                </a:solidFill>
                <a:latin typeface="Aptos"/>
              </a:rPr>
              <a:t>Bulky and rigid; fatigues and breaks under bending or vibration</a:t>
            </a:r>
          </a:p>
          <a:p>
            <a:pPr marL="182880" indent="-182880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23517"/>
                </a:solidFill>
                <a:latin typeface="Aptos"/>
              </a:rPr>
              <a:t>•  </a:t>
            </a:r>
            <a:r>
              <a:rPr sz="1250" b="0" i="0">
                <a:solidFill>
                  <a:srgbClr val="232A30"/>
                </a:solidFill>
                <a:latin typeface="Aptos"/>
              </a:rPr>
              <a:t>One break opens the entire circuit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590288"/>
            <a:ext cx="3383280" cy="713232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4590288"/>
            <a:ext cx="2980944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1" i="0">
                <a:solidFill>
                  <a:srgbClr val="B23517"/>
                </a:solidFill>
                <a:latin typeface="Aptos"/>
              </a:rPr>
              <a:t>Dials you get:</a:t>
            </a:r>
            <a:r>
              <a:rPr sz="1200" b="0" i="0">
                <a:solidFill>
                  <a:srgbClr val="232A30"/>
                </a:solidFill>
                <a:latin typeface="Aptos"/>
              </a:rPr>
              <a:t>  geometry only — gauge, pitch, routing</a:t>
            </a:r>
          </a:p>
        </p:txBody>
      </p:sp>
      <p:sp>
        <p:nvSpPr>
          <p:cNvPr id="11" name="Oval 10"/>
          <p:cNvSpPr/>
          <p:nvPr/>
        </p:nvSpPr>
        <p:spPr>
          <a:xfrm>
            <a:off x="4434840" y="1664208"/>
            <a:ext cx="530352" cy="530352"/>
          </a:xfrm>
          <a:prstGeom prst="ellipse">
            <a:avLst/>
          </a:prstGeom>
          <a:solidFill>
            <a:srgbClr val="507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ircu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855" y="1792224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20640" y="1645920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 b="1" i="0">
                <a:solidFill>
                  <a:srgbClr val="232A30"/>
                </a:solidFill>
                <a:latin typeface="Aptos"/>
              </a:rPr>
              <a:t>Etched copper foil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331720"/>
            <a:ext cx="33832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1">
                <a:solidFill>
                  <a:srgbClr val="6B7680"/>
                </a:solidFill>
                <a:latin typeface="Aptos"/>
              </a:rPr>
              <a:t>A copper trace photo-etched onto a polyimide film.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944368"/>
            <a:ext cx="3383280" cy="1627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23517"/>
                </a:solidFill>
                <a:latin typeface="Aptos"/>
              </a:rPr>
              <a:t>•  </a:t>
            </a:r>
            <a:r>
              <a:rPr sz="1250" b="0" i="0">
                <a:solidFill>
                  <a:srgbClr val="232A30"/>
                </a:solidFill>
                <a:latin typeface="Aptos"/>
              </a:rPr>
              <a:t>High temperature coefficient — resistance climbs with heat, inviting hot-spot runaway</a:t>
            </a:r>
          </a:p>
          <a:p>
            <a:pPr marL="182880" indent="-182880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23517"/>
                </a:solidFill>
                <a:latin typeface="Aptos"/>
              </a:rPr>
              <a:t>•  </a:t>
            </a:r>
            <a:r>
              <a:rPr sz="1250" b="0" i="0">
                <a:solidFill>
                  <a:srgbClr val="232A30"/>
                </a:solidFill>
                <a:latin typeface="Aptos"/>
              </a:rPr>
              <a:t>Heat follows the serpentine trace; gaps between runs stay cold</a:t>
            </a:r>
          </a:p>
          <a:p>
            <a:pPr marL="182880" indent="-182880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23517"/>
                </a:solidFill>
                <a:latin typeface="Aptos"/>
              </a:rPr>
              <a:t>•  </a:t>
            </a:r>
            <a:r>
              <a:rPr sz="1250" b="0" i="0">
                <a:solidFill>
                  <a:srgbClr val="232A30"/>
                </a:solidFill>
                <a:latin typeface="Aptos"/>
              </a:rPr>
              <a:t>Resistance boxed in by fixed foil thickness; traces crack under flex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4590288"/>
            <a:ext cx="3383280" cy="713232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36007" y="4590288"/>
            <a:ext cx="2980944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1" i="0">
                <a:solidFill>
                  <a:srgbClr val="B23517"/>
                </a:solidFill>
                <a:latin typeface="Aptos"/>
              </a:rPr>
              <a:t>Dials you get:</a:t>
            </a:r>
            <a:r>
              <a:rPr sz="1200" b="0" i="0">
                <a:solidFill>
                  <a:srgbClr val="232A30"/>
                </a:solidFill>
                <a:latin typeface="Aptos"/>
              </a:rPr>
              <a:t>  geometry + a fixed metal — trace pattern, foil thickness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0" y="1664208"/>
            <a:ext cx="530352" cy="530352"/>
          </a:xfrm>
          <a:prstGeom prst="ellipse">
            <a:avLst/>
          </a:prstGeom>
          <a:solidFill>
            <a:srgbClr val="507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pas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6" y="1792224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915400" y="1645920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 b="1" i="0">
                <a:solidFill>
                  <a:srgbClr val="232A30"/>
                </a:solidFill>
                <a:latin typeface="Aptos"/>
              </a:rPr>
              <a:t>Silver paste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331720"/>
            <a:ext cx="33832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1">
                <a:solidFill>
                  <a:srgbClr val="6B7680"/>
                </a:solidFill>
                <a:latin typeface="Aptos"/>
              </a:rPr>
              <a:t>Conductive silver ink screen-printed into a pattern.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944368"/>
            <a:ext cx="3383280" cy="1627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23517"/>
                </a:solidFill>
                <a:latin typeface="Aptos"/>
              </a:rPr>
              <a:t>•  </a:t>
            </a:r>
            <a:r>
              <a:rPr sz="1250" b="0" i="0">
                <a:solidFill>
                  <a:srgbClr val="232A30"/>
                </a:solidFill>
                <a:latin typeface="Aptos"/>
              </a:rPr>
              <a:t>Silver migrates under bias and humidity — dendrites, shorts, drift</a:t>
            </a:r>
          </a:p>
          <a:p>
            <a:pPr marL="182880" indent="-182880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23517"/>
                </a:solidFill>
                <a:latin typeface="Aptos"/>
              </a:rPr>
              <a:t>•  </a:t>
            </a:r>
            <a:r>
              <a:rPr sz="1250" b="0" i="0">
                <a:solidFill>
                  <a:srgbClr val="232A30"/>
                </a:solidFill>
                <a:latin typeface="Aptos"/>
              </a:rPr>
              <a:t>Narrow sheet-resistance window; high resistance is hard to reach</a:t>
            </a:r>
          </a:p>
          <a:p>
            <a:pPr marL="182880" indent="-182880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23517"/>
                </a:solidFill>
                <a:latin typeface="Aptos"/>
              </a:rPr>
              <a:t>•  </a:t>
            </a:r>
            <a:r>
              <a:rPr sz="1250" b="0" i="0">
                <a:solidFill>
                  <a:srgbClr val="232A30"/>
                </a:solidFill>
                <a:latin typeface="Aptos"/>
              </a:rPr>
              <a:t>Cost scales with silver-heavy coverage; prints crack under flex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4590288"/>
            <a:ext cx="3383280" cy="713232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30768" y="4590288"/>
            <a:ext cx="2980944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1" i="0">
                <a:solidFill>
                  <a:srgbClr val="B23517"/>
                </a:solidFill>
                <a:latin typeface="Aptos"/>
              </a:rPr>
              <a:t>Dials you get:</a:t>
            </a:r>
            <a:r>
              <a:rPr sz="1200" b="0" i="0">
                <a:solidFill>
                  <a:srgbClr val="232A30"/>
                </a:solidFill>
                <a:latin typeface="Aptos"/>
              </a:rPr>
              <a:t>  print pattern + thickness — chemistry is off-the-shelf ink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596128"/>
            <a:ext cx="10881360" cy="841248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5596128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>
                <a:solidFill>
                  <a:srgbClr val="B23517"/>
                </a:solidFill>
                <a:latin typeface="Aptos"/>
              </a:rPr>
              <a:t>THE COMMON THREAD   </a:t>
            </a:r>
            <a:r>
              <a:rPr sz="1250" b="0" i="0">
                <a:solidFill>
                  <a:srgbClr val="232A30"/>
                </a:solidFill>
                <a:latin typeface="Aptos"/>
              </a:rPr>
              <a:t>The material is fixed, so uniformity, maximum temperature, flexibility, and resistance all move together — one lever drags the rest. Novara's CNT film separates them into four independent dials: geometry, chemistry, electricity, and sensing &amp;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3E58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 THAT DRIVE DESIGN 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822960" cy="822960"/>
          </a:xfrm>
          <a:prstGeom prst="ellipse">
            <a:avLst/>
          </a:prstGeom>
          <a:solidFill>
            <a:srgbClr val="5070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1128370"/>
            <a:ext cx="395021" cy="395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93268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A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Thermal Load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7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thing being heated and the thermal job to be done.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265176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32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material: mass, heat capacity, conductivity</a:t>
            </a:r>
            <a:endParaRPr lang="en-US" sz="20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32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temperature, ramp rate, and hold tolerance</a:t>
            </a:r>
            <a:endParaRPr lang="en-US" sz="20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32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 quality at the heater-target interface</a:t>
            </a:r>
            <a:endParaRPr lang="en-US" sz="20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32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Duty profile: continuous, cyclic, or on-demand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F4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8680" y="52120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3E58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SETS   </a:t>
            </a:r>
            <a:r>
              <a:rPr lang="en-US" sz="2000" dirty="0">
                <a:solidFill>
                  <a:srgbClr val="232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energy the heater must deliver, and where — the spec every lever is turned against.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446520" y="914400"/>
            <a:ext cx="822960" cy="822960"/>
          </a:xfrm>
          <a:prstGeom prst="ellipse">
            <a:avLst/>
          </a:prstGeom>
          <a:solidFill>
            <a:srgbClr val="5070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490" y="112837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93268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A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Environment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6446520" y="196596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7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conditions the heater lives in — and loses heat to.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446520" y="265176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32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Ambient temperature range and extremes</a:t>
            </a:r>
            <a:endParaRPr lang="en-US" sz="20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32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Airflow and convective losses</a:t>
            </a:r>
            <a:endParaRPr lang="en-US" sz="20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32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Insulation, mounting, and surrounding structure</a:t>
            </a:r>
            <a:endParaRPr lang="en-US" sz="20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32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Moisture, altitude, vibration, chemical exposure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6446520" y="5074920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F4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675120" y="5212080"/>
            <a:ext cx="51134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3E58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SETS   </a:t>
            </a:r>
            <a:r>
              <a:rPr lang="en-US" sz="2000" dirty="0">
                <a:solidFill>
                  <a:srgbClr val="232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loss budget and derating — the same heater behaves differently in still air and a 60-mph slipstream.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04938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B235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DIALS WE TURN — 1 OF 2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822960" cy="822960"/>
          </a:xfrm>
          <a:prstGeom prst="ellipse">
            <a:avLst/>
          </a:prstGeom>
          <a:solidFill>
            <a:srgbClr val="EF46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1128370"/>
            <a:ext cx="395021" cy="395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93268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A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Geometry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7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layout of the bus bars and the size and shape of the heater.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265176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32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 bar placement, spacing, and cross-section</a:t>
            </a:r>
            <a:endParaRPr lang="en-US" sz="20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32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Heater footprint, aspect ratio, and cutouts</a:t>
            </a:r>
            <a:endParaRPr lang="en-US" sz="20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32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Zoned or patterned coatings for differential watt density</a:t>
            </a:r>
            <a:endParaRPr lang="en-US" sz="20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32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exit and termination locations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F4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8680" y="5212080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B235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SETS   </a:t>
            </a:r>
            <a:r>
              <a:rPr lang="en-US" sz="2000" dirty="0">
                <a:solidFill>
                  <a:srgbClr val="232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Watt-density distribution, resistance window at a given sheet resistance, thermal uniformity across the part.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446520" y="914400"/>
            <a:ext cx="822960" cy="822960"/>
          </a:xfrm>
          <a:prstGeom prst="ellipse">
            <a:avLst/>
          </a:prstGeom>
          <a:solidFill>
            <a:srgbClr val="EF46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490" y="112837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93268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A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Chemistry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6446520" y="196596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7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formulation — the film we lay down and how it bonds to the stack.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446520" y="265176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32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CNT loading in the dispersion (sheet resistance)</a:t>
            </a:r>
            <a:endParaRPr lang="en-US" sz="20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32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Binders and matrix components</a:t>
            </a:r>
            <a:endParaRPr lang="en-US" sz="20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32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Adhesives and substrate interface</a:t>
            </a:r>
            <a:endParaRPr lang="en-US" sz="20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32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Coating thickness and layer count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6446520" y="5074920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F4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675120" y="52120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B235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SETS   </a:t>
            </a:r>
            <a:r>
              <a:rPr lang="en-US" sz="2000" dirty="0">
                <a:solidFill>
                  <a:srgbClr val="232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resistance, maximum operating temperature, flexibility, adhesion, and long-term stability.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63966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B235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DIALS WE TURN — 2 OF 2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822960" cy="822960"/>
          </a:xfrm>
          <a:prstGeom prst="ellipse">
            <a:avLst/>
          </a:prstGeom>
          <a:solidFill>
            <a:srgbClr val="EF46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1128370"/>
            <a:ext cx="395021" cy="395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93268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A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Electricity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7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power reaches the film.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265176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32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 vs. DC drive</a:t>
            </a:r>
            <a:endParaRPr lang="en-US" sz="20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32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Supply voltage and available current</a:t>
            </a:r>
            <a:endParaRPr lang="en-US" sz="20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32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PWM duty cycle and switching strategy</a:t>
            </a:r>
            <a:endParaRPr lang="en-US" sz="20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32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 electronics and connector scheme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F4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8680" y="52120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B235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SETS   </a:t>
            </a:r>
            <a:r>
              <a:rPr lang="en-US" sz="2000" dirty="0">
                <a:solidFill>
                  <a:srgbClr val="232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Heat-up rate, steady-state power, efficiency, and compatibility with the host system's power budget.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446520" y="914400"/>
            <a:ext cx="822960" cy="822960"/>
          </a:xfrm>
          <a:prstGeom prst="ellipse">
            <a:avLst/>
          </a:prstGeom>
          <a:solidFill>
            <a:srgbClr val="EF46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490" y="112837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93268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A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Sensing &amp; Control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6446520" y="196596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7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system knows the temperature</a:t>
            </a:r>
            <a:br>
              <a:rPr lang="en-US" sz="2000" i="1" dirty="0">
                <a:solidFill>
                  <a:srgbClr val="6B7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sz="2000" i="1" dirty="0">
                <a:solidFill>
                  <a:srgbClr val="6B7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and holds it.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446520" y="265176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32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Thermistors, RTDs, or thermocouples in the stack</a:t>
            </a:r>
            <a:endParaRPr lang="en-US" sz="20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32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Open-loop vs. closed-loop control logic</a:t>
            </a:r>
            <a:endParaRPr lang="en-US" sz="20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32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Film TCR and self-regulating behavior</a:t>
            </a:r>
            <a:endParaRPr lang="en-US" sz="20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32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Over-temperature cutoffs and fail-safes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6446520" y="5074920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F4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675120" y="52120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B235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SETS   </a:t>
            </a:r>
            <a:r>
              <a:rPr lang="en-US" sz="2000" dirty="0">
                <a:solidFill>
                  <a:srgbClr val="232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Accuracy, repeatability, response to disturbances, and the safety case.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13596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A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dials are coupled — turn one, and others move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designs iterate around the loop. These are the couplings we manage most often: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27080" cy="960120"/>
          </a:xfrm>
          <a:prstGeom prst="roundRect">
            <a:avLst>
              <a:gd name="adj" fmla="val 5714"/>
            </a:avLst>
          </a:prstGeom>
          <a:solidFill>
            <a:srgbClr val="F4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93852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235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Chemistry → Geometry &amp; Electricity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0" y="193852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2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CNT loading and sheet resistance moves — the bus bar math and required drive voltage move with it.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944368"/>
            <a:ext cx="10927080" cy="960120"/>
          </a:xfrm>
          <a:prstGeom prst="roundRect">
            <a:avLst>
              <a:gd name="adj" fmla="val 5714"/>
            </a:avLst>
          </a:prstGeom>
          <a:solidFill>
            <a:srgbClr val="EDF1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3054096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235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Geometry → Electricity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0" y="3054096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2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larger heated area at the same sheet resistance lowers total resistance and raises current draw on the supply.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10927080" cy="960120"/>
          </a:xfrm>
          <a:prstGeom prst="roundRect">
            <a:avLst>
              <a:gd name="adj" fmla="val 5714"/>
            </a:avLst>
          </a:prstGeom>
          <a:solidFill>
            <a:srgbClr val="F4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416966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235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 → Geometry &amp; Chemistry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0" y="4169664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2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convective losses demand more watt density, requiring more aggressive thermal response.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5175504"/>
            <a:ext cx="10927080" cy="960120"/>
          </a:xfrm>
          <a:prstGeom prst="roundRect">
            <a:avLst>
              <a:gd name="adj" fmla="val 5714"/>
            </a:avLst>
          </a:prstGeom>
          <a:solidFill>
            <a:srgbClr val="EDF1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528523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235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Thermal Load → Sensing &amp; Control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0" y="5285232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2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Tight hold tolerances can't be met open-loop — the spec itself decides whether feedback is required.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70398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B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design is checked against four constraints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85800" cy="685800"/>
          </a:xfrm>
          <a:prstGeom prst="ellipse">
            <a:avLst/>
          </a:prstGeom>
          <a:solidFill>
            <a:srgbClr val="3C48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" y="214426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9476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Integration &amp; Packaging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554480" y="240487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9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Stack-up, encapsulation, bend radius, attachment to the host assembly.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400800" y="1965960"/>
            <a:ext cx="685800" cy="685800"/>
          </a:xfrm>
          <a:prstGeom prst="ellipse">
            <a:avLst/>
          </a:prstGeom>
          <a:solidFill>
            <a:srgbClr val="3C48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108" y="214426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0" y="19476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Manufacturability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7315200" y="240487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9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Coating process window, sheet-resistance uniformity, yield at volume.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640080" y="3474720"/>
            <a:ext cx="685800" cy="685800"/>
          </a:xfrm>
          <a:prstGeom prst="ellipse">
            <a:avLst/>
          </a:prstGeom>
          <a:solidFill>
            <a:srgbClr val="3C48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" y="365302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4564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Reliability &amp; Lifetime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1554480" y="391363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9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Thermal cycling, aging, environmental durability over the service life.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6400800" y="3474720"/>
            <a:ext cx="685800" cy="685800"/>
          </a:xfrm>
          <a:prstGeom prst="ellipse">
            <a:avLst/>
          </a:prstGeom>
          <a:solidFill>
            <a:srgbClr val="3C48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9108" y="365302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15200" y="34564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 &amp; Regulatory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7315200" y="391363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9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Touch-temperature limits, certifications, failure-mode behavior.</a:t>
            </a:r>
            <a:endParaRPr lang="en-US" sz="2000" dirty="0"/>
          </a:p>
        </p:txBody>
      </p:sp>
      <p:sp>
        <p:nvSpPr>
          <p:cNvPr id="20" name="Shape 14"/>
          <p:cNvSpPr/>
          <p:nvPr/>
        </p:nvSpPr>
        <p:spPr>
          <a:xfrm>
            <a:off x="640080" y="5349240"/>
            <a:ext cx="10927080" cy="1005840"/>
          </a:xfrm>
          <a:prstGeom prst="roundRect">
            <a:avLst>
              <a:gd name="adj" fmla="val 7273"/>
            </a:avLst>
          </a:prstGeom>
          <a:solidFill>
            <a:srgbClr val="EF46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914400" y="5440680"/>
            <a:ext cx="10378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 the two inputs. Turn the four levers. Verify against the constraints. </a:t>
            </a:r>
            <a:b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</a:b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That's how a Novara heater is tailored.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47855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4670235930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F6B3632-0418-40B8-8DDB-149500546E85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f5a0d033-96fa-4409-8306-a353b2d018a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977</Words>
  <Application>Microsoft Office PowerPoint</Application>
  <PresentationFormat>Widescreen</PresentationFormat>
  <Paragraphs>113</Paragraphs>
  <Slides>8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 [1784670235930]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Andy Dickson</cp:lastModifiedBy>
  <cp:revision>5</cp:revision>
  <dcterms:created xsi:type="dcterms:W3CDTF">2026-07-21T21:22:36Z</dcterms:created>
  <dcterms:modified xsi:type="dcterms:W3CDTF">2026-07-22T18:13:34Z</dcterms:modified>
</cp:coreProperties>
</file>